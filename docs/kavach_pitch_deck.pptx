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F1F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8F1FC"/>
                </a:solidFill>
                <a:latin typeface="Arial"/>
              </a:rPr>
              <a:t>Minutes of warning before the incident threshold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Warning time before the incident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E8F1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0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C1E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 (single-sensor)</c:v>
                  </c:pt>
                  <c:pt idx="1">
                    <c:v>KAVACH (compound)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E8F1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E8F1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0"/>
        <c:axPos val="b"/>
        <c:majorGridlines>
          <c:spPr>
            <a:ln w="6350" cap="flat">
              <a:solidFill>
                <a:srgbClr val="2438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A5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526"/>
        </a:solidFill>
        <a:ln>
          <a:noFill/>
        </a:ln>
        <a:effectLst/>
      </c:spPr>
    </c:plotArea>
    <c:plotVisOnly val="1"/>
    <c:dispBlanksAs val="span"/>
  </c:chart>
  <c:spPr>
    <a:solidFill>
      <a:srgbClr val="0A15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KAVACH means armour. One line: plants have plenty of alarms; nobody watches the combination. We built the layer that does — and measured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real 2025 incident. The key phrase is from the public investigation: signals existed, no layer connected them. Frame: software problem, not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pre-answers the biggest jury question: don't plants already have this? Each box is real tech they own; the red panel is what none of it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verbs: fuse, reason, act. The bottom line is the business posture: retrofit, not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dots left to right. Every beat is defensible — ask me about any of them. Cyan dot = where KAVACH fires. Amber = where the plant's own systems first react. Red = too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screenshot of the live control room, not a mock-up. In the video/live demo we scrub the timeline and flip the toggle — the contrast is the whole pitch in one gesture.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PS evaluation focus literally asks for: detection vs single-sensor baselines, lead time, false-negative reduction. We built the baseline INTO the product and measure all three continuously. 4.7x more warning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us from a demo. We built the experiment that could disprove us, it did, we fixed the causes and re-ran it. python eval_run.py 120 reproduces it from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06:30 alert from the engine — the same content the UI evidence panel shows. If a judge probes any line, the system can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action chip carries its own regulatory citation in the product. The orchestrator is a deterministic state machine — pre-approved playbook, human gates above defined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Interactivity is the credibility play: a rules engine that de-escalates when barriers are restored proves it reasons about causes, not correlations.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diagram is docs/architecture.svg in the repo. Emphasize: the twin and a real plant share one interface — swap the simulator for OPC-UA connectors and nothing downstream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impact is 25% of the score. Key line: retrofit posture makes the TAM every plant with data, and the twin itself is sellable (training + drills).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synthetic-data question by owning it proudly. Roadmap maps to the PS's remaining suggested build areas — we built the spine, these are limbs.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counterfactual: eight workers walk out at 06:42. Thank the jury; invite them to the what-if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30632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कवच — the digital armour for zero-harm industrial operations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Industrial Safety Intelligence for Zero-Harm Operations  ·  Problem Statement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SlideHustlers  ·  Satyam Kumar  ·  ET AI Hackathon 2.0 (Economic Times × Unstop)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sees the compound risk no single alarm can.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safety system worked. Eight workers died.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112240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2025, Visakhapatnam Steel Plant.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Entrapped gases exploded in a coke oven battery. The facility had functioning gas detectors, digital permit-to-work, SCADA.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investigation that followed found warning signals in the gas-pressure data — but </a:t>
            </a:r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intelligence layer connected those readings to operational decisions in time.”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recurring pattern across Indian heavy industry: the data exists, spread across five systems that do not talk. The judgment connecting them lives in one overloaded human head.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9792" y="1572768"/>
            <a:ext cx="4014216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79792" y="2141982"/>
            <a:ext cx="401421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workplace accidents in India, FY2023 (DGFASLI) — excluding most mining &amp; construction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0" y="288036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2990088"/>
            <a:ext cx="4014216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479792" y="3559302"/>
            <a:ext cx="401421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large facilities coordinate their own digital safety tools with manual handoffs (FICCI 2024)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0" y="429768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4407408"/>
            <a:ext cx="4014216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lives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479792" y="4976622"/>
            <a:ext cx="401421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a plant where every individual safety system was working as designed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present. Unacted upon. That is not a hardware gap — it is a software problem.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KEEPS HAPPENING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system watches one signal. The combination kills.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5727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DCS / SCADA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" y="1901952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alarms when ONE tag crosses ONE limit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14630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15727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detectors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16936" y="1901952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knows its own ppm, nothing else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14630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2936" y="15727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e-Permit to 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02936" y="1901952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and signatures; blind to live process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60920" y="14630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88936" y="15727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CMMS / maintenance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88936" y="1901952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orders; blind to who is where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46920" y="146304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4936" y="157276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handover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74936" y="1901952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paragraph, written by a tired human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11155680" cy="1508760"/>
          </a:xfrm>
          <a:prstGeom prst="roundRect">
            <a:avLst>
              <a:gd name="adj" fmla="val 4848"/>
            </a:avLst>
          </a:prstGeom>
          <a:solidFill>
            <a:srgbClr val="2A1520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0156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06:30 — the combination no system could see: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gas-main pressure drifting upward for 4 hours (below every alarm limit)  +  crew of five entering the connected basement  +  gas-main isolation omitted  +  a single-point gas test  +  a handover note that missed the drift.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4983480"/>
            <a:ext cx="11155680" cy="1188720"/>
          </a:xfrm>
          <a:prstGeom prst="roundRect">
            <a:avLst>
              <a:gd name="adj" fmla="val 6154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3892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can't the plant just wire them together?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systems are deliberately simple — certification demands it; nobody certifies judgment. Different vendors, different decades, different departments. The only combination-watcher today is a supervisor at 6 AM, after a week of 200 acknowledged alarms.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— the intelligence layer plants are missing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0A1526"/>
          </a:solidFill>
          <a:ln w="19050">
            <a:solidFill>
              <a:srgbClr val="3FC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live picture from systems that never talked: sensor trends, active permits &amp; isolations, gas tests, work orders, shift changeovers, plant connectivity.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2336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828800"/>
            <a:ext cx="566928" cy="566928"/>
          </a:xfrm>
          <a:prstGeom prst="ellipse">
            <a:avLst/>
          </a:prstGeom>
          <a:solidFill>
            <a:srgbClr val="0A1526"/>
          </a:solidFill>
          <a:ln w="19050">
            <a:solidFill>
              <a:srgbClr val="4DA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17720" y="260604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compound-risk rules watch combinations, not thresholds — sub-alarm drift + occupied confined space + omitted isolation = CRITICAL, hours before any single alarm.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0956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75320" y="16002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1828800"/>
            <a:ext cx="566928" cy="566928"/>
          </a:xfrm>
          <a:prstGeom prst="ellipse">
            <a:avLst/>
          </a:prstGeom>
          <a:solidFill>
            <a:srgbClr val="0A1526"/>
          </a:solidFill>
          <a:ln w="19050">
            <a:solidFill>
              <a:srgbClr val="2FD6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89720" y="1901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503920" y="260604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with full evidence and the governing regulation → orchestrated response (suspend permits, isolate, notify, evacuate) → auditable prevention report.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498348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112240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66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from the systems a plant already owns. Replaces none of them.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Safety-instrumented trips stay untouched underneath — KAVACH is the judgment layer above, in software, retrofittable to any plant that has data.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morning, replayed minute by minute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51560" y="3291840"/>
            <a:ext cx="10012680" cy="0"/>
          </a:xfrm>
          <a:prstGeom prst="line">
            <a:avLst/>
          </a:prstGeom>
          <a:noFill/>
          <a:ln w="31750">
            <a:solidFill>
              <a:srgbClr val="2438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3209544"/>
            <a:ext cx="164592" cy="164592"/>
          </a:xfrm>
          <a:prstGeom prst="ellipse">
            <a:avLst/>
          </a:prstGeom>
          <a:solidFill>
            <a:srgbClr val="8FA5C4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374136"/>
            <a:ext cx="0" cy="411480"/>
          </a:xfrm>
          <a:prstGeom prst="line">
            <a:avLst/>
          </a:prstGeom>
          <a:noFill/>
          <a:ln w="12700">
            <a:solidFill>
              <a:srgbClr val="243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86791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Gas-main pressure starts a slow sub-alarm drift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9647" y="3209544"/>
            <a:ext cx="164592" cy="164592"/>
          </a:xfrm>
          <a:prstGeom prst="ellipse">
            <a:avLst/>
          </a:prstGeom>
          <a:solidFill>
            <a:srgbClr val="8FA5C4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1943" y="2788920"/>
            <a:ext cx="0" cy="411480"/>
          </a:xfrm>
          <a:prstGeom prst="line">
            <a:avLst/>
          </a:prstGeom>
          <a:noFill/>
          <a:ln w="12700">
            <a:solidFill>
              <a:srgbClr val="243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4703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04703" y="19476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handover — the drift is not mentioned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30030" y="3209544"/>
            <a:ext cx="164592" cy="164592"/>
          </a:xfrm>
          <a:prstGeom prst="ellipse">
            <a:avLst/>
          </a:prstGeom>
          <a:solidFill>
            <a:srgbClr val="8FA5C4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12326" y="3374136"/>
            <a:ext cx="0" cy="411480"/>
          </a:xfrm>
          <a:prstGeom prst="line">
            <a:avLst/>
          </a:prstGeom>
          <a:noFill/>
          <a:ln w="12700">
            <a:solidFill>
              <a:srgbClr val="243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5086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35086" y="386791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test: PASS — but single-point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60413" y="3209544"/>
            <a:ext cx="164592" cy="164592"/>
          </a:xfrm>
          <a:prstGeom prst="ellipse">
            <a:avLst/>
          </a:prstGeom>
          <a:solidFill>
            <a:srgbClr val="3FC1E8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2709" y="2788920"/>
            <a:ext cx="0" cy="411480"/>
          </a:xfrm>
          <a:prstGeom prst="line">
            <a:avLst/>
          </a:prstGeom>
          <a:noFill/>
          <a:ln w="12700">
            <a:solidFill>
              <a:srgbClr val="243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5469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65469" y="19476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of 5 enters basement — KAVACH: CRITICAL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90795" y="3209544"/>
            <a:ext cx="164592" cy="16459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3091" y="3374136"/>
            <a:ext cx="0" cy="411480"/>
          </a:xfrm>
          <a:prstGeom prst="line">
            <a:avLst/>
          </a:prstGeom>
          <a:noFill/>
          <a:ln w="12700">
            <a:solidFill>
              <a:srgbClr val="2438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95851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95851" y="386791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Hot-work permit 20 m from basement vent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21178" y="3209544"/>
            <a:ext cx="164592" cy="16459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03474" y="2788920"/>
            <a:ext cx="0" cy="411480"/>
          </a:xfrm>
          <a:prstGeom prst="line">
            <a:avLst/>
          </a:prstGeom>
          <a:noFill/>
          <a:ln w="12700">
            <a:solidFill>
              <a:srgbClr val="2438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6234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26234" y="19476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Riser valve throttled — back-pressure builds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51561" y="3209544"/>
            <a:ext cx="164592" cy="164592"/>
          </a:xfrm>
          <a:prstGeom prst="ellipse">
            <a:avLst/>
          </a:prstGeom>
          <a:solidFill>
            <a:srgbClr val="FFB020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33857" y="3374136"/>
            <a:ext cx="0" cy="411480"/>
          </a:xfrm>
          <a:prstGeom prst="line">
            <a:avLst/>
          </a:prstGeom>
          <a:noFill/>
          <a:ln w="12700">
            <a:solidFill>
              <a:srgbClr val="2438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56617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56617" y="386791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uncleared conventional alarm (CO 52 ppm)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81944" y="3209544"/>
            <a:ext cx="164592" cy="164592"/>
          </a:xfrm>
          <a:prstGeom prst="ellipse">
            <a:avLst/>
          </a:prstGeom>
          <a:solidFill>
            <a:srgbClr val="FF5C5C"/>
          </a:solidFill>
          <a:ln w="12700">
            <a:solidFill>
              <a:srgbClr val="0A15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064240" y="2788920"/>
            <a:ext cx="0" cy="411480"/>
          </a:xfrm>
          <a:prstGeom prst="line">
            <a:avLst/>
          </a:prstGeom>
          <a:noFill/>
          <a:ln w="12700">
            <a:solidFill>
              <a:srgbClr val="2438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8700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87000" y="19476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explosion — in the recorded event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521208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3766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individually-explainable signals, one lethal combination.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fictional composite built from publicly reported investigations — every beat is a documented failure mode. All data is synthetic, generated by our deterministic digital twin (34 tagged instruments, 600 scripted minutes, labelled ground truth).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toggle shows what the plant could not see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pic>
        <p:nvPicPr>
          <p:cNvPr id="5" name="Image 0" descr="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417320"/>
            <a:ext cx="6995160" cy="5148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27632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view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plant's own single-sensor alarms, replayed faithfully. The board stays green until 09:39 — 50 minutes before the explosion.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096512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view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morning, same data: CRITICAL at 06:30 with four named rules, the driving sensors ringed on the schematic, gas-flow into the occupied basement animated, and every piece of evidence one click away.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CLAIMED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judges' own evaluation focus — answered with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72768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h 09 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67512" y="2217420"/>
            <a:ext cx="3282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lead time: compound alert 06:30 vs first uncleared single-sensor alarm 09:39 (189 min)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127248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78.8% → 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" y="3771900"/>
            <a:ext cx="3282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false-negative rate: share of the 240 min of worker exposure left unwarned — baseline vs KAVACH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5720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4681728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vs 1  ·  9 supp.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" y="5326380"/>
            <a:ext cx="3282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alerts on a fully benign day: KAVACH 0, baseline 1 (calibration spike) — 9 context suppressions</a:t>
            </a:r>
            <a:endParaRPr lang="en-US" sz="10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480560" y="1554480"/>
          <a:ext cx="7178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4480560" y="5623560"/>
            <a:ext cx="7178040" cy="685800"/>
          </a:xfrm>
          <a:prstGeom prst="roundRect">
            <a:avLst>
              <a:gd name="adj" fmla="val 10667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57332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is computed by the built-in metrics lab against scenario ground truth, exposed live at /api/metrics, and asserted by the automated verification suite on every run.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WE WROTE THAT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tested it on 120 it had never seen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fair objection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authored the plant, the scenario, the ground truth and the baseline. A demo you wrote yourself is not evidence.
</a:t>
            </a:r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generator produces scenarios the rules have never seen — randomised hazard zone, which barriers fail, drift rate, timings, noise, and a third of them fully benign. The unmodified engine is scored across all of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0" y="1463040"/>
            <a:ext cx="5852160" cy="2926080"/>
          </a:xfrm>
          <a:prstGeom prst="roundRect">
            <a:avLst>
              <a:gd name="adj" fmla="val 250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627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120 UNSEEN SCENARIOS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0" y="1938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32720" y="1938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 detected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0" y="2212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332720" y="2212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6151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lead time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0" y="26151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+85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32720" y="26151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30175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FN rate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0" y="3017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0" y="3017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39.4%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34198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alerts, benign days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0" y="3419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32720" y="3419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38221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Warned earlier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0" y="38221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of 68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32720" y="38221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11155680" cy="1600200"/>
          </a:xfrm>
          <a:prstGeom prst="roundRect">
            <a:avLst>
              <a:gd name="adj" fmla="val 4571"/>
            </a:avLst>
          </a:prstGeom>
          <a:solidFill>
            <a:srgbClr val="2A1520"/>
          </a:solidFill>
          <a:ln w="15240">
            <a:solidFill>
              <a:srgbClr val="FFB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failed the first time — and that is the point.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held-out run exposed two real defects: 4 missed hazards in a zone the gas rule had overfitted away from, and a 13.5% false-alert rate on benign days (it alerted on CO at 13 ppm against a limit of 30, with the crew fully protected). Both were fixed at the root — multi-hop gas reachability, and crediting intact barriers.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fixes: detection 94.1% → 100%,  false alerts 13.5% → 0%,  median lead 78 → 85 min. The one scenario where KAVACH still loses to the baseline is printed by the tool, not hidden.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 arrives with its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126480" cy="4754880"/>
          </a:xfrm>
          <a:prstGeom prst="roundRect">
            <a:avLst>
              <a:gd name="adj" fmla="val 1538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100/100 — Battery 4 Basement · 06:30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Rules fired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 Rising gas-main trend feeding an occupied confined space
R3  Gas-main isolation OMITTED on the entry permit
R5  Gas test was single-point — chamber rear untested
R4  Shift handover blind spot — drift unacknowledged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Signals, with values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PT-GM-104 8.6 kPa, rising ~4 h (still below the 9.0 warn limit)
Drift detector: sustained +slope while sub-threshold
Connectivity: gm_corridor → cob4_basement via open V-707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Operational context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CSE-2093 — crew of 5 inside · WO-8812 in progress · confidence 0.9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64592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basis — attached to the alert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Factories Act 1948, S.36(2)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into confined space with dangerous fumes — conditions &amp; certification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OISD-STD-105 — Work Permit System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confined-space / vessel-entry permit: isolation &amp; representative gas testing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DGMS guidance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testing by competent persons; continuous monitoring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475488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112240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495604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black box — a witness.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 and every orchestrated action carries rules, live values, permits and citations. Audit-ready in a statutory environment.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alert to orchestrated response, with citations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00784"/>
            <a:ext cx="457200" cy="457200"/>
          </a:xfrm>
          <a:prstGeom prst="ellipse">
            <a:avLst/>
          </a:prstGeom>
          <a:solidFill>
            <a:srgbClr val="0A1526"/>
          </a:solidFill>
          <a:ln w="17780">
            <a:solidFill>
              <a:srgbClr val="2FD6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2231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5237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alert with evidence bundle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39696" y="155448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2616" y="1700784"/>
            <a:ext cx="457200" cy="457200"/>
          </a:xfrm>
          <a:prstGeom prst="ellipse">
            <a:avLst/>
          </a:prstGeom>
          <a:solidFill>
            <a:srgbClr val="0A1526"/>
          </a:solidFill>
          <a:ln w="17780">
            <a:solidFill>
              <a:srgbClr val="2FD6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261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12848" y="2231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12848" y="25237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CSE-2093 confined-space entry halted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76472" y="155448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9392" y="1700784"/>
            <a:ext cx="457200" cy="457200"/>
          </a:xfrm>
          <a:prstGeom prst="ellipse">
            <a:avLst/>
          </a:prstGeom>
          <a:solidFill>
            <a:srgbClr val="0A1526"/>
          </a:solidFill>
          <a:ln w="17780">
            <a:solidFill>
              <a:srgbClr val="2FD6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9624" y="2231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9624" y="25237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gas-main leg feeding the chamber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13248" y="155448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16168" y="1700784"/>
            <a:ext cx="457200" cy="457200"/>
          </a:xfrm>
          <a:prstGeom prst="ellipse">
            <a:avLst/>
          </a:prstGeom>
          <a:solidFill>
            <a:srgbClr val="0A1526"/>
          </a:solidFill>
          <a:ln w="17780">
            <a:solidFill>
              <a:srgbClr val="2FD6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2231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5237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supervisor · safety officer · control room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50024" y="155448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2944" y="1700784"/>
            <a:ext cx="457200" cy="457200"/>
          </a:xfrm>
          <a:prstGeom prst="ellipse">
            <a:avLst/>
          </a:prstGeom>
          <a:solidFill>
            <a:srgbClr val="0A1526"/>
          </a:solidFill>
          <a:ln w="17780">
            <a:solidFill>
              <a:srgbClr val="2FD6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23176" y="2231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Evacuate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23176" y="25237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from the plant connectivity graph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86800" y="155448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9720" y="1700784"/>
            <a:ext cx="457200" cy="457200"/>
          </a:xfrm>
          <a:prstGeom prst="ellipse">
            <a:avLst/>
          </a:prstGeom>
          <a:solidFill>
            <a:srgbClr val="0A1526"/>
          </a:solidFill>
          <a:ln w="17780">
            <a:solidFill>
              <a:srgbClr val="2FD6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59952" y="2231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59952" y="25237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multi-point gas test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323576" y="155448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26496" y="1700784"/>
            <a:ext cx="457200" cy="457200"/>
          </a:xfrm>
          <a:prstGeom prst="ellipse">
            <a:avLst/>
          </a:prstGeom>
          <a:solidFill>
            <a:srgbClr val="0A1526"/>
          </a:solidFill>
          <a:ln w="17780">
            <a:solidFill>
              <a:srgbClr val="2FD69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2649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396728" y="2231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96728" y="252374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until trend clears and permit re-issued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361188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10251C"/>
          </a:solidFill>
          <a:ln w="12700">
            <a:solidFill>
              <a:srgbClr val="2FD69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37947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counterfactual, computed
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at 06:30 is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minutes before the incident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crew leaves the chamber 3 hours before conditions turn lethal. The 08:30 hot-work permit and the 09:30 valve throttle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simply never happen.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263640" y="361188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379476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Incident-Prevention Report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→ a regulator-ready document: full timeline, evidence, rules, statutory citations, and the with/without-KAVACH comparison. Markdown + branded PDF, generated by the system itself.
</a:t>
            </a:r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asks to compress “the critical first 10 minutes from chaos to coordinated response.” This is that, pre-armed 4 hours early.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 IT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don't have to trust us — they can try to break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if the isolation had been applied?”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clears instantly. Zone risk falls 100 → 70, CRITICAL → ALERT. The system rewards the correct barrier.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83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if the gas test had been done properly?”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multi-point test → R5 clears. Score drops further — two barriers restored, risk de-escalates honestly.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53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1783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if a second CO channel starts rising?”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03920" y="2743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Corroboration rule R7 joins, confidence rises. More evidence = stronger alert, not alarm spam.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112240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04748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sandbox console (/whatif) injects conditions and re-runs the full engine deterministically — same rules, same code path as the replay. 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finale Q&amp;A, the jury drives. Verified: what-if results are bit-identical on recompute.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core. Agentic edges.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pic>
        <p:nvPicPr>
          <p:cNvPr id="5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8732520" cy="4882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64040" y="1371600"/>
            <a:ext cx="2212848" cy="4882896"/>
          </a:xfrm>
          <a:prstGeom prst="roundRect">
            <a:avLst>
              <a:gd name="adj" fmla="val 3306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46920" y="1554480"/>
            <a:ext cx="1874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pure-Python engines
Next.js 14 · inline-SVG UI (~91 kB)
WebSocket live streaming (4 Hz)
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twin · cached horizon · zero external dependencies — the demo cannot fail
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 optional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narration of alerts with a hard deterministic fallback
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suite asserts every claim: lead time, FN/FP, rule timings, citations, what-if — ALL PASS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Retrofit, not replace — that is the entire go-to-market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6035040" cy="1097280"/>
          </a:xfrm>
          <a:prstGeom prst="roundRect">
            <a:avLst>
              <a:gd name="adj" fmla="val 6667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Observe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7510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connectors: OPC-UA / historian, e-PTW &amp; CMMS exports. No process writes, no downtime, no re-certification. Weeks, not years.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6035040" cy="1097280"/>
          </a:xfrm>
          <a:prstGeom prst="roundRect">
            <a:avLst>
              <a:gd name="adj" fmla="val 6667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986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Advise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0954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alerts with evidence in the control room. Trust is earned on the plant's own near-misses — and measured (FN/FP dashboards).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023360"/>
            <a:ext cx="6035040" cy="1097280"/>
          </a:xfrm>
          <a:prstGeom prst="roundRect">
            <a:avLst>
              <a:gd name="adj" fmla="val 6667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330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Orchestrate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439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Pre-approved response playbooks: permit suspension, notifications, evacuation sequencing. Human gates above defined thresholds.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155448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1664208"/>
            <a:ext cx="451713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· coke · refining · chemicals · mining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76872" y="2157984"/>
            <a:ext cx="451713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asset-heavy sectors where the Vizag pattern repeats — and where Factories Act / OISD / DGMS audits already create compliance pull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12280" y="278892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2898648"/>
            <a:ext cx="451713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plant = a config, not a project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76872" y="3392424"/>
            <a:ext cx="451713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JSON + thresholds + connector mapping; the rules and engines are plant-agnostic — that is the scalability story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402336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4133088"/>
            <a:ext cx="451713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twin ships with the product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76872" y="4626864"/>
            <a:ext cx="451713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training, HAZOP-style what-if drills, and regression-testing of rule changes — revenue before the first connector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3492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coke-oven battery, 90 days, advisory mode. KAVACH proves itself on the plant's own data — every near-miss it catches is evidence no slide can fake.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REAL,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by necessity — deterministic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Team SlideHustlers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data honesty policy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SCADA + permit data is locked behind NDAs — for every team. We built a high-fidelity digital twin instead: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realistically-tagged instruments with physics-consistent behaviour
A 600-minute composite scenario of documented failure modes
A benign day that tests restraint, not just detection
Labelled ground truth, so every metric is honest
</a:t>
            </a:r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surface — UI, README, this deck — says the data is synthetic. Judges should trust what a team says about its own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54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/ PPE vision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8470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PS's computer-vision lane — pre-trained detection feeding the same evidence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49631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5877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positioning (UWB/BLE)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crew locations on the heatmap; evacuation routing per person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3529584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6210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intelligence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9136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learned from near-miss corpora — the PS's incident-pattern lane, seeded by our RAG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4562856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E1C36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6542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9469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multi-plant roll-up for corporate EHS — same engines, one pane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562356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112240"/>
          </a:solidFill>
          <a:ln w="9525">
            <a:solidFill>
              <a:srgbClr val="243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57058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each item extends the working evidence model, none re-architects it.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202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already exists in every plant.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25146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makes it act in time.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3FC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· कवच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“Railways built KAVACH for trains. We built it for the workers inside the plants.”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github.com/satyam11081998-lab/slidehustlers_et   ·   demo video linked in the Unstop submission   ·   Team SlideHustlers — Satyam Kumar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2026-07-20T09:59:56Z</dcterms:created>
  <dcterms:modified xsi:type="dcterms:W3CDTF">2026-07-20T09:59:56Z</dcterms:modified>
</cp:coreProperties>
</file>